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Urbanist Medium"/>
      <p:regular r:id="rId16"/>
      <p:bold r:id="rId17"/>
      <p:italic r:id="rId18"/>
      <p:boldItalic r:id="rId19"/>
    </p:embeddedFont>
    <p:embeddedFont>
      <p:font typeface="Urbanist SemiBold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regular.fntdata"/><Relationship Id="rId22" Type="http://schemas.openxmlformats.org/officeDocument/2006/relationships/font" Target="fonts/UrbanistSemiBold-italic.fntdata"/><Relationship Id="rId21" Type="http://schemas.openxmlformats.org/officeDocument/2006/relationships/font" Target="fonts/UrbanistSemiBold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Urbanist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7" Type="http://schemas.openxmlformats.org/officeDocument/2006/relationships/font" Target="fonts/Urbani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Medium-bold.fntdata"/><Relationship Id="rId16" Type="http://schemas.openxmlformats.org/officeDocument/2006/relationships/font" Target="fonts/UrbanistMedium-regular.fntdata"/><Relationship Id="rId19" Type="http://schemas.openxmlformats.org/officeDocument/2006/relationships/font" Target="fonts/UrbanistMedium-boldItalic.fntdata"/><Relationship Id="rId18" Type="http://schemas.openxmlformats.org/officeDocument/2006/relationships/font" Target="fonts/Urbanist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dd300aa8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dd300aa8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dd300aa823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dd300aa823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dd300aa823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dd300aa823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dd300aa823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dd300aa823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dd300aa823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dd300aa823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dd300aa823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dd300aa823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dd300aa823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dd300aa823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dd300aa823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dd300aa823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dd300aa823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dd300aa823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dd300aa823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dd300aa823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1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8" name="Google Shape;438;p41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The effects of social media and AI on today’s society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39" name="Google Shape;439;p41"/>
          <p:cNvSpPr txBox="1"/>
          <p:nvPr>
            <p:ph idx="5" type="subTitle"/>
          </p:nvPr>
        </p:nvSpPr>
        <p:spPr>
          <a:xfrm>
            <a:off x="297075" y="4175900"/>
            <a:ext cx="12756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Soo Jung Han</a:t>
            </a:r>
            <a:endParaRPr/>
          </a:p>
        </p:txBody>
      </p:sp>
      <p:sp>
        <p:nvSpPr>
          <p:cNvPr id="440" name="Google Shape;440;p41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April 4, 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1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2"/>
          <p:cNvSpPr txBox="1"/>
          <p:nvPr>
            <p:ph idx="1" type="subTitle"/>
          </p:nvPr>
        </p:nvSpPr>
        <p:spPr>
          <a:xfrm>
            <a:off x="228600" y="1235900"/>
            <a:ext cx="64914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Average time on social media (per day): </a:t>
            </a:r>
            <a:r>
              <a:rPr lang="en"/>
              <a:t>2-4 hours</a:t>
            </a:r>
            <a:endParaRPr/>
          </a:p>
        </p:txBody>
      </p:sp>
      <p:sp>
        <p:nvSpPr>
          <p:cNvPr id="447" name="Google Shape;447;p42"/>
          <p:cNvSpPr txBox="1"/>
          <p:nvPr>
            <p:ph type="title"/>
          </p:nvPr>
        </p:nvSpPr>
        <p:spPr>
          <a:xfrm>
            <a:off x="228600" y="228600"/>
            <a:ext cx="6658800" cy="70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does this matter?</a:t>
            </a:r>
            <a:endParaRPr/>
          </a:p>
        </p:txBody>
      </p:sp>
      <p:sp>
        <p:nvSpPr>
          <p:cNvPr id="448" name="Google Shape;448;p42"/>
          <p:cNvSpPr txBox="1"/>
          <p:nvPr>
            <p:ph idx="1" type="subTitle"/>
          </p:nvPr>
        </p:nvSpPr>
        <p:spPr>
          <a:xfrm>
            <a:off x="228600" y="1549500"/>
            <a:ext cx="8243100" cy="39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</a:t>
            </a:r>
            <a:r>
              <a:rPr lang="en"/>
              <a:t>stimated 1.5–2 billion people interacting with AI-powered systems globally</a:t>
            </a:r>
            <a:endParaRPr/>
          </a:p>
        </p:txBody>
      </p:sp>
      <p:sp>
        <p:nvSpPr>
          <p:cNvPr id="449" name="Google Shape;449;p42"/>
          <p:cNvSpPr txBox="1"/>
          <p:nvPr>
            <p:ph idx="1" type="subTitle"/>
          </p:nvPr>
        </p:nvSpPr>
        <p:spPr>
          <a:xfrm>
            <a:off x="228600" y="1895400"/>
            <a:ext cx="8243100" cy="39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Ov</a:t>
            </a:r>
            <a:r>
              <a:rPr lang="en"/>
              <a:t>er 75% of companies are exploring or using AI</a:t>
            </a:r>
            <a:endParaRPr/>
          </a:p>
        </p:txBody>
      </p:sp>
      <p:sp>
        <p:nvSpPr>
          <p:cNvPr id="450" name="Google Shape;450;p42"/>
          <p:cNvSpPr txBox="1"/>
          <p:nvPr>
            <p:ph idx="1" type="subTitle"/>
          </p:nvPr>
        </p:nvSpPr>
        <p:spPr>
          <a:xfrm>
            <a:off x="228600" y="2273938"/>
            <a:ext cx="8243100" cy="39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We need to consider the impact of social media / AI on daily life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3"/>
          <p:cNvSpPr txBox="1"/>
          <p:nvPr>
            <p:ph idx="1" type="subTitle"/>
          </p:nvPr>
        </p:nvSpPr>
        <p:spPr>
          <a:xfrm>
            <a:off x="222300" y="974600"/>
            <a:ext cx="6401400" cy="26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Consumer/ Daily life usage</a:t>
            </a:r>
            <a:br>
              <a:rPr lang="en"/>
            </a:br>
            <a:r>
              <a:rPr lang="en"/>
              <a:t>-&gt;99% of U.S. adults use at least one AI-enabled product weekly without realizing it(such as streaming recommendations, navigation apps, or smart assistants.)</a:t>
            </a:r>
            <a:br>
              <a:rPr lang="en"/>
            </a:br>
            <a:r>
              <a:rPr lang="en"/>
              <a:t>-&gt;20% of Americans use generative AI daily (i.e. ChatGPT)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-&gt;Younger generations (18-29) more likely to use AI weekly (46%) compared to those over 65 (23%)</a:t>
            </a:r>
            <a:endParaRPr/>
          </a:p>
        </p:txBody>
      </p:sp>
      <p:sp>
        <p:nvSpPr>
          <p:cNvPr id="456" name="Google Shape;456;p43"/>
          <p:cNvSpPr txBox="1"/>
          <p:nvPr>
            <p:ph type="title"/>
          </p:nvPr>
        </p:nvSpPr>
        <p:spPr>
          <a:xfrm>
            <a:off x="228600" y="228600"/>
            <a:ext cx="6658800" cy="6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take a look at AI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4"/>
          <p:cNvSpPr txBox="1"/>
          <p:nvPr>
            <p:ph idx="1" type="subTitle"/>
          </p:nvPr>
        </p:nvSpPr>
        <p:spPr>
          <a:xfrm>
            <a:off x="222300" y="974600"/>
            <a:ext cx="6401400" cy="26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and Workplace Adoption</a:t>
            </a:r>
            <a:br>
              <a:rPr lang="en"/>
            </a:br>
            <a:r>
              <a:rPr lang="en"/>
              <a:t>-&gt;</a:t>
            </a:r>
            <a:r>
              <a:rPr lang="en"/>
              <a:t>Roughly 78% of organizations now use AI in at least one business function.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-&gt;Most common business applications: customer service (56%), cybersecurity/fraud management (51%), and digital personal assistants (47%)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-&gt;58% of employees use AI at work, but many do so without formal company permission (creates risks regarding data privacy)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44"/>
          <p:cNvSpPr txBox="1"/>
          <p:nvPr>
            <p:ph type="title"/>
          </p:nvPr>
        </p:nvSpPr>
        <p:spPr>
          <a:xfrm>
            <a:off x="228600" y="228600"/>
            <a:ext cx="6658800" cy="6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take a look at AI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5"/>
          <p:cNvSpPr txBox="1"/>
          <p:nvPr>
            <p:ph idx="1" type="subTitle"/>
          </p:nvPr>
        </p:nvSpPr>
        <p:spPr>
          <a:xfrm>
            <a:off x="222300" y="974600"/>
            <a:ext cx="6401400" cy="36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trends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-&gt;AI market expected to grow over 120% year-over-year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-&gt;62% of organizations are experimenting with AI agents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-&gt;19% of users report a significant productivity increase from AI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disparity</a:t>
            </a:r>
            <a:br>
              <a:rPr lang="en"/>
            </a:br>
            <a:r>
              <a:rPr lang="en"/>
              <a:t>-&gt;24.7% of the working-age population in the Global North was using AI tools, compared to 14.1% in the Global South (2025)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-&gt;UAE, Singapore, and South Korea have highest AI adoption rates.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Enterprise adoption</a:t>
            </a:r>
            <a:br>
              <a:rPr lang="en"/>
            </a:br>
            <a:r>
              <a:rPr lang="en"/>
              <a:t>-&gt;O</a:t>
            </a:r>
            <a:r>
              <a:rPr lang="en"/>
              <a:t>nly one-third of companies have fully integrated AI across their enterprise.</a:t>
            </a:r>
            <a:endParaRPr/>
          </a:p>
        </p:txBody>
      </p:sp>
      <p:sp>
        <p:nvSpPr>
          <p:cNvPr id="468" name="Google Shape;468;p45"/>
          <p:cNvSpPr txBox="1"/>
          <p:nvPr>
            <p:ph type="title"/>
          </p:nvPr>
        </p:nvSpPr>
        <p:spPr>
          <a:xfrm>
            <a:off x="228600" y="228600"/>
            <a:ext cx="6658800" cy="6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take a look at AI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6"/>
          <p:cNvSpPr txBox="1"/>
          <p:nvPr>
            <p:ph idx="1" type="subTitle"/>
          </p:nvPr>
        </p:nvSpPr>
        <p:spPr>
          <a:xfrm>
            <a:off x="222300" y="974600"/>
            <a:ext cx="6401400" cy="36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trends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-&gt;AI market expected to grow over 120% year-over-year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-&gt;62% of organizations are experimenting with AI agents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-&gt;19% of users report a significant productivity increase from AI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disparity</a:t>
            </a:r>
            <a:br>
              <a:rPr lang="en"/>
            </a:br>
            <a:r>
              <a:rPr lang="en"/>
              <a:t>-&gt;24.7% of the working-age population in the Global North was using AI tools, compared to 14.1% in the Global South (2025)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-&gt;UAE, Singapore, and South Korea have highest AI adoption rates.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Enterprise adoption</a:t>
            </a:r>
            <a:br>
              <a:rPr lang="en"/>
            </a:br>
            <a:r>
              <a:rPr lang="en"/>
              <a:t>-&gt;Only one-third of companies have fully integrated AI across their enterprise.</a:t>
            </a:r>
            <a:endParaRPr/>
          </a:p>
        </p:txBody>
      </p:sp>
      <p:sp>
        <p:nvSpPr>
          <p:cNvPr id="474" name="Google Shape;474;p46"/>
          <p:cNvSpPr txBox="1"/>
          <p:nvPr>
            <p:ph type="title"/>
          </p:nvPr>
        </p:nvSpPr>
        <p:spPr>
          <a:xfrm>
            <a:off x="228600" y="228600"/>
            <a:ext cx="6658800" cy="6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take a look at AI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7"/>
          <p:cNvSpPr txBox="1"/>
          <p:nvPr>
            <p:ph idx="1" type="subTitle"/>
          </p:nvPr>
        </p:nvSpPr>
        <p:spPr>
          <a:xfrm>
            <a:off x="222300" y="974600"/>
            <a:ext cx="3804000" cy="36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Negative impacts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Increased anxiety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Depression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Addiction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Cyberbullying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Reduced sleep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Shortened attention span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7"/>
          <p:cNvSpPr txBox="1"/>
          <p:nvPr>
            <p:ph type="title"/>
          </p:nvPr>
        </p:nvSpPr>
        <p:spPr>
          <a:xfrm>
            <a:off x="228600" y="228600"/>
            <a:ext cx="8325300" cy="6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about social media?</a:t>
            </a:r>
            <a:endParaRPr/>
          </a:p>
        </p:txBody>
      </p:sp>
      <p:sp>
        <p:nvSpPr>
          <p:cNvPr id="481" name="Google Shape;481;p47"/>
          <p:cNvSpPr txBox="1"/>
          <p:nvPr>
            <p:ph idx="1" type="subTitle"/>
          </p:nvPr>
        </p:nvSpPr>
        <p:spPr>
          <a:xfrm>
            <a:off x="4026300" y="974600"/>
            <a:ext cx="4152900" cy="12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Positive impacts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Increased social connectivity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Educational opportunities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Access to support networks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8"/>
          <p:cNvSpPr txBox="1"/>
          <p:nvPr>
            <p:ph idx="1" type="subTitle"/>
          </p:nvPr>
        </p:nvSpPr>
        <p:spPr>
          <a:xfrm>
            <a:off x="228600" y="978000"/>
            <a:ext cx="7633500" cy="377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effects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Mental health issues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Cyberbullying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Addiction</a:t>
            </a:r>
            <a:br>
              <a:rPr lang="en"/>
            </a:br>
            <a:r>
              <a:rPr lang="en"/>
              <a:t>-Compulsive checking and decreased focus -&gt; reduced physical activity and poor sleep quality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Body image disturbance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Social comparison and FOMO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Societal impact/ misinformation: political polarization and reduced trust in traditional information sources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Positive connections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-long-distance relationships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-finding community support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-rapid access to news and information</a:t>
            </a:r>
            <a:endParaRPr/>
          </a:p>
        </p:txBody>
      </p:sp>
      <p:sp>
        <p:nvSpPr>
          <p:cNvPr id="487" name="Google Shape;487;p48"/>
          <p:cNvSpPr txBox="1"/>
          <p:nvPr>
            <p:ph type="title"/>
          </p:nvPr>
        </p:nvSpPr>
        <p:spPr>
          <a:xfrm>
            <a:off x="228600" y="228600"/>
            <a:ext cx="8325300" cy="6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about social media?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9"/>
          <p:cNvSpPr txBox="1"/>
          <p:nvPr>
            <p:ph idx="1" type="subTitle"/>
          </p:nvPr>
        </p:nvSpPr>
        <p:spPr>
          <a:xfrm>
            <a:off x="228600" y="978000"/>
            <a:ext cx="7633500" cy="377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Mitigating risks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Limit screen time to less than 3 hours a day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Actively post, comment, and communicate rather than passively scrolling, which can reduce loneliness.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Keep devices out of the bedroom and set turn-off times to improve sleep</a:t>
            </a:r>
            <a:endParaRPr/>
          </a:p>
        </p:txBody>
      </p:sp>
      <p:sp>
        <p:nvSpPr>
          <p:cNvPr id="493" name="Google Shape;493;p49"/>
          <p:cNvSpPr txBox="1"/>
          <p:nvPr>
            <p:ph type="title"/>
          </p:nvPr>
        </p:nvSpPr>
        <p:spPr>
          <a:xfrm>
            <a:off x="228600" y="228600"/>
            <a:ext cx="8325300" cy="6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about social media?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0"/>
          <p:cNvSpPr txBox="1"/>
          <p:nvPr>
            <p:ph idx="1" type="subTitle"/>
          </p:nvPr>
        </p:nvSpPr>
        <p:spPr>
          <a:xfrm>
            <a:off x="228600" y="978000"/>
            <a:ext cx="7633500" cy="377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can we better </a:t>
            </a:r>
            <a:r>
              <a:rPr b="1" lang="en"/>
              <a:t>leverage </a:t>
            </a:r>
            <a:r>
              <a:rPr lang="en"/>
              <a:t>social media and AI at home and in the workplace?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can we be better citizens of the world and of our society? (Digital, local, global, etc.)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actionable steps can YOU take to </a:t>
            </a:r>
            <a:r>
              <a:rPr b="1" lang="en"/>
              <a:t>mitigate risks</a:t>
            </a:r>
            <a:r>
              <a:rPr lang="en"/>
              <a:t> of social media and AI?</a:t>
            </a:r>
            <a:endParaRPr/>
          </a:p>
        </p:txBody>
      </p:sp>
      <p:sp>
        <p:nvSpPr>
          <p:cNvPr id="499" name="Google Shape;499;p50"/>
          <p:cNvSpPr txBox="1"/>
          <p:nvPr>
            <p:ph type="title"/>
          </p:nvPr>
        </p:nvSpPr>
        <p:spPr>
          <a:xfrm>
            <a:off x="228600" y="228600"/>
            <a:ext cx="8325300" cy="6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